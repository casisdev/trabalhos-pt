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58" r:id="rId4"/>
    <p:sldId id="259" r:id="rId5"/>
    <p:sldId id="271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07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Cumprimentar a banca e apresentar o título. Dizer numa frase: este trabalho propõe um sistema web que ajuda a reunir documentos perdidos e achados em Angola, usando leitura automática de imagens (OCR) e uma busca inteligente. Duração: cerca de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2BCCF-9FD9-0B50-F666-9EA898341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6AEDD-B7B6-110B-BE04-15A53D42A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1FE6E-F968-08D6-9F17-AF1B350F8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minuto. Contar como uma história com duas pessoas: uma perdeu um documento, outra achou. Hoje elas não se encontram, porque só existem canais informais, como os documentos pendurados em táxis e lojas. Dependemos do BI, passaporte, carta de condução, livrete, cartão de contribuinte e cartões multicaixa, e perder um deles obriga a participar o extravio e pedir segunda via. A proposta é um ponto único de procura que também protege os dados pessoais.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F2F50-09AC-569D-675F-88E04750E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28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minuto. Ler a pergunta devagar. Dizer que as três hipóteses são previsões que o trabalho quer testar: criar um ponto único de procura, dar um primeiro destino a quem perdeu ou achou e reduzir a exposição pública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minuto. O objetivo geral é o sistema em si. Os três específicos são três verbos: entender o problema, escolher bem as tecnologias e construir a busca. A parte mais desenvolvida neste trabalho é a de escolher, com o estudo comparativo.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D5F57-1F8F-757B-8AB1-FA0922EA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D273F-6F46-7A0B-8D53-D8D3C50C8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62031-EF1B-670B-772B-267887023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minuto e meio. OCR é a tecnologia que lê o texto de uma imagem. Os quatro passos são: foto, limpeza, leitura e texto. O passo azul é o que mais pesa: uma foto de documento real raramente é perfeita, por isso a imagem é tratada antes. O Tesseract é o motor principal e o PaddleOCR entra como reforço quando a confiança da leitura é baixa.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95DE5-15DE-4912-8D9C-B00D15AA5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16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minuto e meio. Ler a figura da esquerda para a direita. Se procuro o número do BI, a busca lexical, por palavras-chave, é a melhor. Se só me lembro de «carteira preta com BI», a busca semântica, por significado, ajuda mais. A busca híbrida junta as duas listas com RRF e cobre os dois casos. Explicar precisão e recall com a frase azul, porque são as medidas da avaliação. Dizer com honestidade que esta figura é conceptual, baseada na literatura, e que não são resultados medidos.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minuto. O sistema guarda imagens de documentos de identidade, por isso a proteção dos dados faz parte do desenho. Mostrar o exemplo fictício: o sistema guarda o dado completo, mas mostra só o início e o fim do número e o nome parcialmente ocultado. Depois, três medidas: cifragem, verificação do dono antes de entregar o contacto e o enquadramento na lei angolana de proteção de dados pessoais. Também se aplica a minimização: só se recolhe o necessário, e o utilizador aceita os termos de tratamento.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minuto. O método foi pesquisar e comparar. Para cada camada do sistema, comparámos as alternativas com quatro critérios práticos: o que já conheço, quanto tempo levo a aprender, em que áreas é usada e quanto custa. No fim de cada comparação, ficou uma escolha com justificação. Admitir que o MySQL era mais familiar, mas não oferece tudo o que o projeto precisa.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minuto e meio. Este é o resultado do estudo comparativo, visto como camadas de baixo para cima. A camada azul é a mais importante: o PostgreSQL guarda dados, texto e vetores num único serviço. O Python foi escolhido porque o OCR e a busca semântica vivem nesse ecossistema, e o React para a interface web e a câmara. Tudo é código aberto, o que reduz custos e facilita a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minuto e meio. Esta é a decisão mais importante do estudo comparativo. Ler a coluna azul: o PostgreSQL cobre a busca por texto, a busca de nomes com erros de grafia e a busca vetorial, tudo num só serviço. O Elasticsearch também faz tudo isto, mas obriga a manter um segundo sistema. O MySQL não oferece uma extensão madura para busca vetorial. Os dados são da comparação feita no trabalho, não de testes de desempenho.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minuto. Responder à pergunta de pesquisa com honestidade: o trabalho fundamenta o desenho técnico e mostra que a combinação é viável no plano teórico, mas ainda falta confirmar com testes e dados reais. As hipóteses baseiam-se na literatura. Apresentar as limitações antes que a banca as aponte e terminar com o caminho: protótipo, testes e projeto-piloto.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30 segundos. Agradecer à banca, aos professores e aos colegas. Dizer que as fontes principais estão no slide e que a lista completa consta no trabalho escrito.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400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98241"/>
            <a:ext cx="10566400" cy="424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400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98241"/>
            <a:ext cx="10566400" cy="424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9CC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DE PESQUISA · 13.ª CLASSE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12800" y="1626394"/>
            <a:ext cx="762000" cy="50800"/>
          </a:xfrm>
          <a:prstGeom prst="rect">
            <a:avLst/>
          </a:prstGeom>
          <a:solidFill>
            <a:srgbClr val="4F8FDF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880394"/>
            <a:ext cx="10883392" cy="17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4F6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Recuperação de Documentos Perdidos baseado em OCR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12800" y="3843635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de caso: Angola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" y="4708624"/>
            <a:ext cx="10566400" cy="0"/>
          </a:xfrm>
          <a:prstGeom prst="line">
            <a:avLst/>
          </a:prstGeom>
          <a:noFill/>
          <a:ln w="6350">
            <a:solidFill>
              <a:srgbClr val="3B55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4965799"/>
            <a:ext cx="34184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CC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Estudante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5229920"/>
            <a:ext cx="34184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Casimiro Luzolo Gaspar Puaia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6467" y="4965799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CC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Instituição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6467" y="5229920"/>
            <a:ext cx="34185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Técnico Comercial de Luanda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6467" y="5814120"/>
            <a:ext cx="341853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 DTI · 13.ª Classe · Sala 16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60234" y="4965799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CC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letivo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60234" y="5229920"/>
            <a:ext cx="34185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Luanda, 2026/2027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A279C-9ED3-4317-A6B0-3A09C244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8872F1-D365-D497-1156-029DE9448536}"/>
              </a:ext>
            </a:extLst>
          </p:cNvPr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E TEMA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DE9A2B-99E3-1018-7785-63681086A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75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i="0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perde um documento não sabe onde procurar; quem o acha não sabe a quem entregar</a:t>
            </a:r>
            <a:endParaRPr lang="en-US" sz="2400" dirty="0"/>
          </a:p>
        </p:txBody>
      </p:sp>
      <p:pic>
        <p:nvPicPr>
          <p:cNvPr id="4" name="Image 0" descr="Search">
            <a:extLst>
              <a:ext uri="{FF2B5EF4-FFF2-40B4-BE49-F238E27FC236}">
                <a16:creationId xmlns:a16="http://schemas.microsoft.com/office/drawing/2014/main" id="{1C46E94F-3663-57E1-1486-6EB8A7968A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59000" y="3030240"/>
            <a:ext cx="609600" cy="6096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7A09D22-E447-A5DC-AB83-5A141B9ED8D0}"/>
              </a:ext>
            </a:extLst>
          </p:cNvPr>
          <p:cNvSpPr/>
          <p:nvPr/>
        </p:nvSpPr>
        <p:spPr>
          <a:xfrm>
            <a:off x="1463923" y="3741440"/>
            <a:ext cx="19996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perde</a:t>
            </a:r>
            <a:endParaRPr lang="en-US" sz="2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D300CCE-907A-45C1-FCB4-39A5E6B51D33}"/>
              </a:ext>
            </a:extLst>
          </p:cNvPr>
          <p:cNvSpPr/>
          <p:nvPr/>
        </p:nvSpPr>
        <p:spPr>
          <a:xfrm>
            <a:off x="1313190" y="4147840"/>
            <a:ext cx="230112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sabe onde procurar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41CD174-859F-D54E-68D9-C01B760046F4}"/>
              </a:ext>
            </a:extLst>
          </p:cNvPr>
          <p:cNvSpPr/>
          <p:nvPr/>
        </p:nvSpPr>
        <p:spPr>
          <a:xfrm>
            <a:off x="5934323" y="2919512"/>
            <a:ext cx="323255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F6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3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2514A48-F648-091B-7AA6-4CAAEF5DBC4C}"/>
              </a:ext>
            </a:extLst>
          </p:cNvPr>
          <p:cNvSpPr/>
          <p:nvPr/>
        </p:nvSpPr>
        <p:spPr>
          <a:xfrm>
            <a:off x="4318000" y="3699272"/>
            <a:ext cx="3556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702FB90-AFC5-F369-E52A-0883BA8C5E74}"/>
              </a:ext>
            </a:extLst>
          </p:cNvPr>
          <p:cNvSpPr/>
          <p:nvPr/>
        </p:nvSpPr>
        <p:spPr>
          <a:xfrm>
            <a:off x="4264660" y="3838972"/>
            <a:ext cx="3662680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canais informais: documentos pendurados em janelas de táxis e em lojas, e posts </a:t>
            </a:r>
            <a:r>
              <a:rPr lang="en-US" sz="13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redes sociais</a:t>
            </a:r>
            <a:endParaRPr lang="en-US" sz="1300" dirty="0"/>
          </a:p>
        </p:txBody>
      </p:sp>
      <p:pic>
        <p:nvPicPr>
          <p:cNvPr id="10" name="Image 1" descr="Book">
            <a:extLst>
              <a:ext uri="{FF2B5EF4-FFF2-40B4-BE49-F238E27FC236}">
                <a16:creationId xmlns:a16="http://schemas.microsoft.com/office/drawing/2014/main" id="{40D248B6-8E98-1FC8-A34E-F02BA2F344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23400" y="3030240"/>
            <a:ext cx="609600" cy="60960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CCD198F0-06CF-1D7E-4CCF-DA687D8E469E}"/>
              </a:ext>
            </a:extLst>
          </p:cNvPr>
          <p:cNvSpPr/>
          <p:nvPr/>
        </p:nvSpPr>
        <p:spPr>
          <a:xfrm>
            <a:off x="8812143" y="3741440"/>
            <a:ext cx="18320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acha</a:t>
            </a:r>
            <a:endParaRPr lang="en-US" sz="20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B28A6A0-6CB6-EE99-705C-8B3A3EC90FC8}"/>
              </a:ext>
            </a:extLst>
          </p:cNvPr>
          <p:cNvSpPr/>
          <p:nvPr/>
        </p:nvSpPr>
        <p:spPr>
          <a:xfrm>
            <a:off x="8459004" y="4147840"/>
            <a:ext cx="253829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sabe a quem entregar</a:t>
            </a:r>
            <a:endParaRPr lang="en-US" sz="14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1CCDC8C-3085-002A-7E1F-F9382962C265}"/>
              </a:ext>
            </a:extLst>
          </p:cNvPr>
          <p:cNvSpPr/>
          <p:nvPr/>
        </p:nvSpPr>
        <p:spPr>
          <a:xfrm>
            <a:off x="812800" y="5567759"/>
            <a:ext cx="113792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proposta:</a:t>
            </a:r>
            <a:r>
              <a:rPr lang="en-US" sz="16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um ponto único de procura que reúne documentos perdidos e achados, sem expor os dados do dono.</a:t>
            </a:r>
            <a:endParaRPr lang="en-US" sz="1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1AA8DCF-7207-7A32-5B22-C1A9BFA81288}"/>
              </a:ext>
            </a:extLst>
          </p:cNvPr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Recuperação de Documentos Perdidos baseado em OCR</a:t>
            </a:r>
            <a:endParaRPr lang="en-US" sz="12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769237B-6D99-28B6-618A-DAE240736F41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9236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CC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DE PESQUISA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1213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600" b="1" i="0">
                <a:solidFill>
                  <a:srgbClr val="F4F6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que medida um sistema web que combina OCR com busca lexical e semântica melhora a recuperação de documentos perdidos em Angola?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401458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CC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4354909"/>
            <a:ext cx="3420467" cy="1487091"/>
          </a:xfrm>
          <a:prstGeom prst="roundRect">
            <a:avLst>
              <a:gd name="adj" fmla="val 6832"/>
            </a:avLst>
          </a:prstGeom>
          <a:solidFill>
            <a:srgbClr val="1E3A6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558109"/>
            <a:ext cx="310448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CC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4918770"/>
            <a:ext cx="3104489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plataforma só para documentos perdidos melhora a taxa de recuperação.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5667" y="4354909"/>
            <a:ext cx="3420566" cy="1487091"/>
          </a:xfrm>
          <a:prstGeom prst="roundRect">
            <a:avLst>
              <a:gd name="adj" fmla="val 6832"/>
            </a:avLst>
          </a:prstGeom>
          <a:solidFill>
            <a:srgbClr val="1E3A66"/>
          </a:solidFill>
          <a:ln/>
        </p:spPr>
      </p:sp>
      <p:sp>
        <p:nvSpPr>
          <p:cNvPr id="9" name="Text 7"/>
          <p:cNvSpPr/>
          <p:nvPr/>
        </p:nvSpPr>
        <p:spPr>
          <a:xfrm>
            <a:off x="4588867" y="4558109"/>
            <a:ext cx="310459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CC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88867" y="4918770"/>
            <a:ext cx="310459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perdeu ou achou um documento passa a ter um primeiro ponto de procura.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8634" y="4354909"/>
            <a:ext cx="3420566" cy="1487091"/>
          </a:xfrm>
          <a:prstGeom prst="roundRect">
            <a:avLst>
              <a:gd name="adj" fmla="val 6832"/>
            </a:avLst>
          </a:prstGeom>
          <a:solidFill>
            <a:srgbClr val="1E3A66"/>
          </a:solidFill>
          <a:ln/>
        </p:spPr>
      </p:sp>
      <p:sp>
        <p:nvSpPr>
          <p:cNvPr id="12" name="Text 10"/>
          <p:cNvSpPr/>
          <p:nvPr/>
        </p:nvSpPr>
        <p:spPr>
          <a:xfrm>
            <a:off x="8161834" y="4558109"/>
            <a:ext cx="310459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CC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61834" y="4918770"/>
            <a:ext cx="310459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 dos documentos achados deixam de ficar expostos em locais públicos.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Recuperação de Documentos Perdidos baseado em OCR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i="0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passos levam ao sistema: entender, escolher e construir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38200" y="2557264"/>
            <a:ext cx="0" cy="952302"/>
          </a:xfrm>
          <a:prstGeom prst="line">
            <a:avLst/>
          </a:prstGeom>
          <a:noFill/>
          <a:ln w="50800">
            <a:solidFill>
              <a:srgbClr val="2F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6800" y="2608064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897584"/>
            <a:ext cx="10621772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um sistema web de recuperação de documentos perdidos, baseado em OCR e em busca híbrida (lexical e semântica).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2800" y="4586089"/>
            <a:ext cx="3318867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4725789"/>
            <a:ext cx="3418433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6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r>
              <a:rPr lang="en-US" sz="1800" b="1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Entender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" y="5121970"/>
            <a:ext cx="341843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Caracterizar a perda e o achado de documentos: tipos e fluxos atuais.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6467" y="4586089"/>
            <a:ext cx="331896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6467" y="4725789"/>
            <a:ext cx="341853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6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r>
              <a:rPr lang="en-US" sz="1800" b="1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Escolher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36467" y="5121970"/>
            <a:ext cx="341853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tecnologias e justificar o conjunto escolhido.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60234" y="4586089"/>
            <a:ext cx="331896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0234" y="4725789"/>
            <a:ext cx="341853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6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r>
              <a:rPr lang="en-US" sz="1800" b="1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Construir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60234" y="5121970"/>
            <a:ext cx="3418535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a busca com índice invertido, nomes aproximados e vetores, fundindo os resultados.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Recuperação de Documentos Perdidos baseado em OCR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89ABC-9748-B3AB-8C19-4980437B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360DB0-F826-8B5F-EF69-DD9018346904}"/>
              </a:ext>
            </a:extLst>
          </p:cNvPr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 · 1 DE 3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782879-29F8-15DC-431F-088177C1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i="0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qualidade da imagem decide se o OCR acerta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6832704-54BE-58A0-A4E7-5C3D6D7839F2}"/>
              </a:ext>
            </a:extLst>
          </p:cNvPr>
          <p:cNvSpPr/>
          <p:nvPr/>
        </p:nvSpPr>
        <p:spPr>
          <a:xfrm>
            <a:off x="812800" y="2590304"/>
            <a:ext cx="2298700" cy="1461591"/>
          </a:xfrm>
          <a:prstGeom prst="roundRect">
            <a:avLst>
              <a:gd name="adj" fmla="val 6951"/>
            </a:avLst>
          </a:prstGeom>
          <a:solidFill>
            <a:srgbClr val="E2E8F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2303E5-D21E-51C3-62A8-3D58259C4A24}"/>
              </a:ext>
            </a:extLst>
          </p:cNvPr>
          <p:cNvSpPr/>
          <p:nvPr/>
        </p:nvSpPr>
        <p:spPr>
          <a:xfrm>
            <a:off x="1016000" y="2793504"/>
            <a:ext cx="19490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300AF3-B2F8-A5CC-5B40-DA0644C7EA71}"/>
              </a:ext>
            </a:extLst>
          </p:cNvPr>
          <p:cNvSpPr/>
          <p:nvPr/>
        </p:nvSpPr>
        <p:spPr>
          <a:xfrm>
            <a:off x="1016000" y="3083024"/>
            <a:ext cx="194906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Foto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F86A52-5E46-4CEE-AB79-4F68A6749CFB}"/>
              </a:ext>
            </a:extLst>
          </p:cNvPr>
          <p:cNvSpPr/>
          <p:nvPr/>
        </p:nvSpPr>
        <p:spPr>
          <a:xfrm>
            <a:off x="1016000" y="3403005"/>
            <a:ext cx="194906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telemóvel ou digitalizada.</a:t>
            </a:r>
            <a:endParaRPr lang="en-US" sz="1300" dirty="0"/>
          </a:p>
        </p:txBody>
      </p:sp>
      <p:pic>
        <p:nvPicPr>
          <p:cNvPr id="8" name="Image 0" descr="arrow-right">
            <a:extLst>
              <a:ext uri="{FF2B5EF4-FFF2-40B4-BE49-F238E27FC236}">
                <a16:creationId xmlns:a16="http://schemas.microsoft.com/office/drawing/2014/main" id="{D60CD7A7-D6C3-27DB-0394-F01365BD20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3100" y="3194050"/>
            <a:ext cx="254000" cy="254000"/>
          </a:xfrm>
          <a:prstGeom prst="rect">
            <a:avLst/>
          </a:prstGeom>
        </p:spPr>
      </p:pic>
      <p:sp>
        <p:nvSpPr>
          <p:cNvPr id="9" name="Shape 6">
            <a:extLst>
              <a:ext uri="{FF2B5EF4-FFF2-40B4-BE49-F238E27FC236}">
                <a16:creationId xmlns:a16="http://schemas.microsoft.com/office/drawing/2014/main" id="{E5317BAB-E19A-6ED8-1C84-7D9AF34F87ED}"/>
              </a:ext>
            </a:extLst>
          </p:cNvPr>
          <p:cNvSpPr/>
          <p:nvPr/>
        </p:nvSpPr>
        <p:spPr>
          <a:xfrm>
            <a:off x="3568700" y="2478881"/>
            <a:ext cx="2298700" cy="1684437"/>
          </a:xfrm>
          <a:prstGeom prst="roundRect">
            <a:avLst>
              <a:gd name="adj" fmla="val 6032"/>
            </a:avLst>
          </a:prstGeom>
          <a:solidFill>
            <a:srgbClr val="2F6FBF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1F9B239-C911-3E10-BDF0-9F956B155310}"/>
              </a:ext>
            </a:extLst>
          </p:cNvPr>
          <p:cNvSpPr/>
          <p:nvPr/>
        </p:nvSpPr>
        <p:spPr>
          <a:xfrm>
            <a:off x="3771900" y="2682081"/>
            <a:ext cx="19490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C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3F1BC3E-7F3B-FE56-D5A7-CC43831D3B5C}"/>
              </a:ext>
            </a:extLst>
          </p:cNvPr>
          <p:cNvSpPr/>
          <p:nvPr/>
        </p:nvSpPr>
        <p:spPr>
          <a:xfrm>
            <a:off x="3771900" y="2971602"/>
            <a:ext cx="194906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Limpeza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0AB3E2E-3F76-84E3-2CD8-8BA5D52172EE}"/>
              </a:ext>
            </a:extLst>
          </p:cNvPr>
          <p:cNvSpPr/>
          <p:nvPr/>
        </p:nvSpPr>
        <p:spPr>
          <a:xfrm>
            <a:off x="3771900" y="3291582"/>
            <a:ext cx="1949069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e Pillow: orientação, perspetiva, menos ruído.</a:t>
            </a:r>
            <a:endParaRPr lang="en-US" sz="1300" dirty="0"/>
          </a:p>
        </p:txBody>
      </p:sp>
      <p:pic>
        <p:nvPicPr>
          <p:cNvPr id="13" name="Image 1" descr="arrow-right">
            <a:extLst>
              <a:ext uri="{FF2B5EF4-FFF2-40B4-BE49-F238E27FC236}">
                <a16:creationId xmlns:a16="http://schemas.microsoft.com/office/drawing/2014/main" id="{3C1F7616-4C8A-6BF7-D5C2-ED19073B57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9000" y="3194050"/>
            <a:ext cx="254000" cy="254000"/>
          </a:xfrm>
          <a:prstGeom prst="rect">
            <a:avLst/>
          </a:prstGeom>
        </p:spPr>
      </p:pic>
      <p:sp>
        <p:nvSpPr>
          <p:cNvPr id="14" name="Shape 10">
            <a:extLst>
              <a:ext uri="{FF2B5EF4-FFF2-40B4-BE49-F238E27FC236}">
                <a16:creationId xmlns:a16="http://schemas.microsoft.com/office/drawing/2014/main" id="{E6B88C32-FDBD-361E-C4B7-5D270D7015A5}"/>
              </a:ext>
            </a:extLst>
          </p:cNvPr>
          <p:cNvSpPr/>
          <p:nvPr/>
        </p:nvSpPr>
        <p:spPr>
          <a:xfrm>
            <a:off x="6324600" y="2590304"/>
            <a:ext cx="2298700" cy="1461591"/>
          </a:xfrm>
          <a:prstGeom prst="roundRect">
            <a:avLst>
              <a:gd name="adj" fmla="val 6951"/>
            </a:avLst>
          </a:prstGeom>
          <a:solidFill>
            <a:srgbClr val="E2E8F0"/>
          </a:solidFill>
          <a:ln/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FF047FE2-4193-24F3-4541-EB2632A23A33}"/>
              </a:ext>
            </a:extLst>
          </p:cNvPr>
          <p:cNvSpPr/>
          <p:nvPr/>
        </p:nvSpPr>
        <p:spPr>
          <a:xfrm>
            <a:off x="6527800" y="2793504"/>
            <a:ext cx="19490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EA1DA082-79E7-D20E-2304-3DFD7AF590E7}"/>
              </a:ext>
            </a:extLst>
          </p:cNvPr>
          <p:cNvSpPr/>
          <p:nvPr/>
        </p:nvSpPr>
        <p:spPr>
          <a:xfrm>
            <a:off x="6527800" y="3083024"/>
            <a:ext cx="194906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</a:t>
            </a:r>
            <a:endParaRPr lang="en-US" sz="16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9356CAA8-9EEA-5927-F7EE-4CA276B9A79F}"/>
              </a:ext>
            </a:extLst>
          </p:cNvPr>
          <p:cNvSpPr/>
          <p:nvPr/>
        </p:nvSpPr>
        <p:spPr>
          <a:xfrm>
            <a:off x="6527800" y="3403005"/>
            <a:ext cx="194906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lê. PaddleOCR reforça.</a:t>
            </a:r>
            <a:endParaRPr lang="en-US" sz="1300" dirty="0"/>
          </a:p>
        </p:txBody>
      </p:sp>
      <p:pic>
        <p:nvPicPr>
          <p:cNvPr id="18" name="Image 2" descr="arrow-right">
            <a:extLst>
              <a:ext uri="{FF2B5EF4-FFF2-40B4-BE49-F238E27FC236}">
                <a16:creationId xmlns:a16="http://schemas.microsoft.com/office/drawing/2014/main" id="{F115E462-15C6-A0F3-B53A-9C79052540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3194050"/>
            <a:ext cx="254000" cy="254000"/>
          </a:xfrm>
          <a:prstGeom prst="rect">
            <a:avLst/>
          </a:prstGeom>
        </p:spPr>
      </p:pic>
      <p:sp>
        <p:nvSpPr>
          <p:cNvPr id="19" name="Shape 14">
            <a:extLst>
              <a:ext uri="{FF2B5EF4-FFF2-40B4-BE49-F238E27FC236}">
                <a16:creationId xmlns:a16="http://schemas.microsoft.com/office/drawing/2014/main" id="{1479FF62-4B3B-F476-D935-95831F16B14F}"/>
              </a:ext>
            </a:extLst>
          </p:cNvPr>
          <p:cNvSpPr/>
          <p:nvPr/>
        </p:nvSpPr>
        <p:spPr>
          <a:xfrm>
            <a:off x="9080500" y="2590304"/>
            <a:ext cx="2298700" cy="1461591"/>
          </a:xfrm>
          <a:prstGeom prst="roundRect">
            <a:avLst>
              <a:gd name="adj" fmla="val 6951"/>
            </a:avLst>
          </a:prstGeom>
          <a:solidFill>
            <a:srgbClr val="E2E8F0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046BE53-DA59-8553-CA97-CDF92C33CE9A}"/>
              </a:ext>
            </a:extLst>
          </p:cNvPr>
          <p:cNvSpPr/>
          <p:nvPr/>
        </p:nvSpPr>
        <p:spPr>
          <a:xfrm>
            <a:off x="9283700" y="2793504"/>
            <a:ext cx="19490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91E51B15-BC0F-03A8-6414-8F4CFD958F2C}"/>
              </a:ext>
            </a:extLst>
          </p:cNvPr>
          <p:cNvSpPr/>
          <p:nvPr/>
        </p:nvSpPr>
        <p:spPr>
          <a:xfrm>
            <a:off x="9283700" y="3083024"/>
            <a:ext cx="194906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Texto</a:t>
            </a:r>
            <a:endParaRPr lang="en-US" sz="16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F6E139A3-6759-6C55-1A6F-98F31C70A52D}"/>
              </a:ext>
            </a:extLst>
          </p:cNvPr>
          <p:cNvSpPr/>
          <p:nvPr/>
        </p:nvSpPr>
        <p:spPr>
          <a:xfrm>
            <a:off x="9283700" y="3403005"/>
            <a:ext cx="194906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e número prontos para a busca.</a:t>
            </a:r>
            <a:endParaRPr lang="en-US" sz="13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5A899B3A-6905-B99D-5C20-44194A4F708C}"/>
              </a:ext>
            </a:extLst>
          </p:cNvPr>
          <p:cNvSpPr/>
          <p:nvPr/>
        </p:nvSpPr>
        <p:spPr>
          <a:xfrm>
            <a:off x="838200" y="5148659"/>
            <a:ext cx="0" cy="693341"/>
          </a:xfrm>
          <a:prstGeom prst="line">
            <a:avLst/>
          </a:prstGeom>
          <a:noFill/>
          <a:ln w="50800">
            <a:solidFill>
              <a:srgbClr val="2F6FBF"/>
            </a:solidFill>
            <a:prstDash val="solid"/>
          </a:ln>
        </p:spPr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F63C64A-6B6C-377E-3D20-A37910C1C465}"/>
              </a:ext>
            </a:extLst>
          </p:cNvPr>
          <p:cNvSpPr/>
          <p:nvPr/>
        </p:nvSpPr>
        <p:spPr>
          <a:xfrm>
            <a:off x="1066800" y="5199459"/>
            <a:ext cx="1062177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Fundos com selos, pouca luz e perspetiva errada fazem o OCR confundir </a:t>
            </a:r>
            <a:r>
              <a:rPr lang="en-US" sz="15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com O</a:t>
            </a:r>
            <a:r>
              <a:rPr lang="en-US" sz="15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15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 I</a:t>
            </a:r>
            <a:r>
              <a:rPr lang="en-US" sz="15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E306D8B-A63F-942F-EBA4-6A2928BEFB6C}"/>
              </a:ext>
            </a:extLst>
          </p:cNvPr>
          <p:cNvSpPr/>
          <p:nvPr/>
        </p:nvSpPr>
        <p:spPr>
          <a:xfrm>
            <a:off x="1066800" y="5542359"/>
            <a:ext cx="106217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isso a imagem é limpa antes da leitura e o utilizador confirma os campos </a:t>
            </a:r>
            <a:r>
              <a:rPr lang="en-US" sz="14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duvidosos</a:t>
            </a: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516C7FBB-809D-03E1-6F11-38700E85C37E}"/>
              </a:ext>
            </a:extLst>
          </p:cNvPr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Recuperação de Documentos Perdidos baseado em OCR</a:t>
            </a:r>
            <a:endParaRPr lang="en-US" sz="12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ACFA9911-2CB4-5E00-7883-E3A075EB23D0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8769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 · 2 DE 3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75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i="0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Nenhuma busca resolve tudo sozinha; juntas, equilibram precisão e recall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2541984"/>
            <a:ext cx="1363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exata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780705"/>
            <a:ext cx="157507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 número do BI»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29163" y="2541984"/>
            <a:ext cx="1250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vaga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63212" y="2780705"/>
            <a:ext cx="205918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«carteira preta com BI»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3208635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Lexical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70200" y="3138785"/>
            <a:ext cx="8509000" cy="406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870200" y="3138785"/>
            <a:ext cx="4238812" cy="406400"/>
          </a:xfrm>
          <a:prstGeom prst="roundRect">
            <a:avLst>
              <a:gd name="adj" fmla="val 50000"/>
            </a:avLst>
          </a:prstGeom>
          <a:solidFill>
            <a:srgbClr val="A9B7C9"/>
          </a:solidFill>
          <a:ln/>
        </p:spPr>
        <p:txBody>
          <a:bodyPr wrap="square" lIns="143685" tIns="35735" rIns="15478" bIns="10335" rtlCol="0" anchor="t">
            <a:normAutofit/>
          </a:bodyPr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 em números exatos</a:t>
            </a:r>
            <a:endParaRPr lang="en-US" sz="1231" dirty="0"/>
          </a:p>
        </p:txBody>
      </p:sp>
      <p:sp>
        <p:nvSpPr>
          <p:cNvPr id="11" name="Text 9"/>
          <p:cNvSpPr/>
          <p:nvPr/>
        </p:nvSpPr>
        <p:spPr>
          <a:xfrm>
            <a:off x="812800" y="3742035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Semântica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70200" y="3672185"/>
            <a:ext cx="8509000" cy="406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6866964" y="3672185"/>
            <a:ext cx="4512235" cy="406400"/>
          </a:xfrm>
          <a:prstGeom prst="roundRect">
            <a:avLst>
              <a:gd name="adj" fmla="val 50000"/>
            </a:avLst>
          </a:prstGeom>
          <a:solidFill>
            <a:srgbClr val="A9B7C9"/>
          </a:solidFill>
          <a:ln/>
        </p:spPr>
        <p:txBody>
          <a:bodyPr wrap="square" lIns="15478" tIns="35735" rIns="143685" bIns="10335" rtlCol="0" anchor="t">
            <a:normAutofit/>
          </a:bodyPr>
          <a:lstStyle/>
          <a:p>
            <a:pPr marL="0" indent="0" algn="r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 em descrições vagas</a:t>
            </a:r>
            <a:endParaRPr lang="en-US" sz="1231" dirty="0"/>
          </a:p>
        </p:txBody>
      </p:sp>
      <p:sp>
        <p:nvSpPr>
          <p:cNvPr id="14" name="Text 12"/>
          <p:cNvSpPr/>
          <p:nvPr/>
        </p:nvSpPr>
        <p:spPr>
          <a:xfrm>
            <a:off x="812800" y="4275435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6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Híbrida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70200" y="4205585"/>
            <a:ext cx="8509000" cy="406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2870200" y="4205585"/>
            <a:ext cx="8509000" cy="406400"/>
          </a:xfrm>
          <a:prstGeom prst="roundRect">
            <a:avLst>
              <a:gd name="adj" fmla="val 50000"/>
            </a:avLst>
          </a:prstGeom>
          <a:solidFill>
            <a:srgbClr val="2F6FBF"/>
          </a:solidFill>
          <a:ln/>
        </p:spPr>
        <p:txBody>
          <a:bodyPr wrap="square" lIns="143685" tIns="35735" rIns="0" bIns="10335" rtlCol="0" anchor="t">
            <a:normAutofit/>
          </a:bodyPr>
          <a:lstStyle/>
          <a:p>
            <a:pPr marL="0" indent="0" algn="ctr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Cobre os dois casos: junta as listas com RRF</a:t>
            </a:r>
            <a:endParaRPr lang="en-US" sz="1231" dirty="0"/>
          </a:p>
        </p:txBody>
      </p:sp>
      <p:sp>
        <p:nvSpPr>
          <p:cNvPr id="17" name="Shape 15"/>
          <p:cNvSpPr/>
          <p:nvPr/>
        </p:nvSpPr>
        <p:spPr>
          <a:xfrm>
            <a:off x="838200" y="5294709"/>
            <a:ext cx="0" cy="547291"/>
          </a:xfrm>
          <a:prstGeom prst="line">
            <a:avLst/>
          </a:prstGeom>
          <a:noFill/>
          <a:ln w="50800">
            <a:solidFill>
              <a:srgbClr val="2F6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6800" y="5439470"/>
            <a:ext cx="1062177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Precisão:</a:t>
            </a: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resultados mostrados, quantos são os certos. </a:t>
            </a:r>
            <a:r>
              <a:rPr lang="en-US" sz="14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</a:t>
            </a: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certos que existem, quantos foram achados.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Recuperação de Documentos Perdidos baseado em OCR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 · 3 DE 3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i="0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Mostrar o mínimo protege o dono do documento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2800" y="2575850"/>
            <a:ext cx="4953000" cy="1341041"/>
          </a:xfrm>
          <a:prstGeom prst="roundRect">
            <a:avLst>
              <a:gd name="adj" fmla="val 7576"/>
            </a:avLst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779050"/>
            <a:ext cx="46829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GUARDADO, NUNCA MOSTRADO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3068570"/>
            <a:ext cx="46829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 Maria Santos Silva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429230"/>
            <a:ext cx="46829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Nº: 123456789LA012</a:t>
            </a:r>
            <a:endParaRPr lang="en-US" sz="16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8200" y="3093970"/>
            <a:ext cx="304800" cy="30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88100" y="2563150"/>
            <a:ext cx="4978400" cy="1366441"/>
          </a:xfrm>
          <a:prstGeom prst="roundRect">
            <a:avLst>
              <a:gd name="adj" fmla="val 6506"/>
            </a:avLst>
          </a:prstGeom>
          <a:solidFill>
            <a:srgbClr val="FFFFFF"/>
          </a:solidFill>
          <a:ln w="25400">
            <a:solidFill>
              <a:srgbClr val="2F6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04000" y="2779050"/>
            <a:ext cx="46829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SISTEMA MOSTRA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04000" y="3068570"/>
            <a:ext cx="46829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 M••••• S••••• S•••••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04000" y="3429230"/>
            <a:ext cx="46829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Nº: 123••••••••012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800" y="4964509"/>
            <a:ext cx="33528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2800" y="5078809"/>
            <a:ext cx="34533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Cifragem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2800" y="5396309"/>
            <a:ext cx="345338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(TLS) no tráfego; dados e imagens cifrados.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13116" y="4964509"/>
            <a:ext cx="33528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13116" y="5078809"/>
            <a:ext cx="34533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Verificação do dono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913116" y="5396309"/>
            <a:ext cx="345338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reclama prova um dado não mostrado, como a data de nascimento.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Recuperação de Documentos Perdidos baseado em OCR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i="0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Comparámos cinco camadas com quatro critérios práticos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2197993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CRITÉRIOS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604353"/>
            <a:ext cx="2035770" cy="401241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 prévio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50170" y="2604353"/>
            <a:ext cx="2312690" cy="401241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aprendizagem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64460" y="2604353"/>
            <a:ext cx="1749425" cy="401241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de atuação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15485" y="2604353"/>
            <a:ext cx="1403350" cy="401241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uso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618706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CAMADAS COMPARADAS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4116507"/>
            <a:ext cx="750788" cy="401241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65188" y="4116507"/>
            <a:ext cx="1465957" cy="401241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busca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32745" y="4116507"/>
            <a:ext cx="1848247" cy="401241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Indexação e busca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82592" y="4116507"/>
            <a:ext cx="2164358" cy="401241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do servidor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48550" y="4116507"/>
            <a:ext cx="1541859" cy="401241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50394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5354340"/>
            <a:ext cx="4590852" cy="487660"/>
          </a:xfrm>
          <a:prstGeom prst="roundRect">
            <a:avLst>
              <a:gd name="adj" fmla="val 50000"/>
            </a:avLst>
          </a:prstGeom>
          <a:solidFill>
            <a:srgbClr val="2F6F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escolha justificada para cada camada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Recuperação de Documentos Perdidos baseado em OCR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 DISCUSSÃO · 1 DE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i="0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escolhas formam uma única pilha de código aberto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2800" y="2109093"/>
            <a:ext cx="10566400" cy="426641"/>
          </a:xfrm>
          <a:prstGeom prst="roundRect">
            <a:avLst>
              <a:gd name="adj" fmla="val 17860"/>
            </a:avLst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197993"/>
            <a:ext cx="28778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7000" y="2197993"/>
            <a:ext cx="748233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HTML5, CSS3, JavaScript, React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599234"/>
            <a:ext cx="10566400" cy="426641"/>
          </a:xfrm>
          <a:prstGeom prst="roundRect">
            <a:avLst>
              <a:gd name="adj" fmla="val 1786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688134"/>
            <a:ext cx="28778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(API)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7000" y="2688134"/>
            <a:ext cx="748233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FastAPI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089374"/>
            <a:ext cx="10566400" cy="426641"/>
          </a:xfrm>
          <a:prstGeom prst="roundRect">
            <a:avLst>
              <a:gd name="adj" fmla="val 17860"/>
            </a:avLst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3178274"/>
            <a:ext cx="28778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e OCR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7000" y="3178274"/>
            <a:ext cx="748233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OpenCV, Pillow, Tesseract (PaddleOCR de reserva)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579515"/>
            <a:ext cx="10566400" cy="426641"/>
          </a:xfrm>
          <a:prstGeom prst="roundRect">
            <a:avLst>
              <a:gd name="adj" fmla="val 17860"/>
            </a:avLst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3668415"/>
            <a:ext cx="28778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e busca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7000" y="3668415"/>
            <a:ext cx="748233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Embeddings, BM25 e RRF (busca híbrida)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069655"/>
            <a:ext cx="10566400" cy="426641"/>
          </a:xfrm>
          <a:prstGeom prst="roundRect">
            <a:avLst>
              <a:gd name="adj" fmla="val 17860"/>
            </a:avLst>
          </a:prstGeom>
          <a:solidFill>
            <a:srgbClr val="2F6FB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4158555"/>
            <a:ext cx="28778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7000" y="4158555"/>
            <a:ext cx="748233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com pg_trgm e pgvector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4559796"/>
            <a:ext cx="10566400" cy="426641"/>
          </a:xfrm>
          <a:prstGeom prst="roundRect">
            <a:avLst>
              <a:gd name="adj" fmla="val 17860"/>
            </a:avLst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4648696"/>
            <a:ext cx="28778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7000" y="4648696"/>
            <a:ext cx="748233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e Nginx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5601990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decisivo:</a:t>
            </a: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privacidade, baixo custo e servidores modestos.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Recuperação de Documentos Perdidos baseado em OCR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 DISCUSSÃO · 2 DE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75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i="0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 só serviço, o PostgreSQL cobre as buscas que o sistema precisa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2610644"/>
            <a:ext cx="26162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Necessidade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54400" y="2610644"/>
            <a:ext cx="2573834" cy="401241"/>
          </a:xfrm>
          <a:custGeom>
            <a:avLst/>
            <a:gdLst/>
            <a:ahLst/>
            <a:cxnLst/>
            <a:rect l="l" t="t" r="r" b="b"/>
            <a:pathLst>
              <a:path w="2573834" h="401241">
                <a:moveTo>
                  <a:pt x="76200" y="0"/>
                </a:moveTo>
                <a:lnTo>
                  <a:pt x="2497634" y="0"/>
                </a:lnTo>
                <a:arcTo wR="76200" hR="76200" stAng="16200000" swAng="5400000"/>
                <a:lnTo>
                  <a:pt x="2573834" y="401241"/>
                </a:lnTo>
                <a:lnTo>
                  <a:pt x="0" y="401241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2F6FBF"/>
          </a:solidFill>
          <a:ln/>
        </p:spPr>
        <p:txBody>
          <a:bodyPr wrap="square" lIns="127000" tIns="76200" rIns="57405" bIns="508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56834" y="2686844"/>
            <a:ext cx="238942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32267" y="2686844"/>
            <a:ext cx="238953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3091259"/>
            <a:ext cx="10566400" cy="0"/>
          </a:xfrm>
          <a:prstGeom prst="line">
            <a:avLst/>
          </a:prstGeom>
          <a:noFill/>
          <a:ln w="6350">
            <a:solidFill>
              <a:srgbClr val="D5D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3196034"/>
            <a:ext cx="261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integral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54400" y="3094434"/>
            <a:ext cx="2573834" cy="434280"/>
          </a:xfrm>
          <a:prstGeom prst="rect">
            <a:avLst/>
          </a:prstGeom>
          <a:solidFill>
            <a:srgbClr val="DCE8F8"/>
          </a:solidFill>
          <a:ln/>
        </p:spPr>
        <p:txBody>
          <a:bodyPr wrap="square" lIns="127000" tIns="101600" rIns="57405" bIns="7620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Nativo, em português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56834" y="3196034"/>
            <a:ext cx="238942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Nativo, muito completo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32267" y="3196034"/>
            <a:ext cx="238953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configurável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531890"/>
            <a:ext cx="10566400" cy="0"/>
          </a:xfrm>
          <a:prstGeom prst="line">
            <a:avLst/>
          </a:prstGeom>
          <a:noFill/>
          <a:ln w="6350">
            <a:solidFill>
              <a:srgbClr val="D5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636665"/>
            <a:ext cx="261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Nomes com erros de grafia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4400" y="3535065"/>
            <a:ext cx="2573834" cy="434280"/>
          </a:xfrm>
          <a:prstGeom prst="rect">
            <a:avLst/>
          </a:prstGeom>
          <a:solidFill>
            <a:srgbClr val="DCE8F8"/>
          </a:solidFill>
          <a:ln/>
        </p:spPr>
        <p:txBody>
          <a:bodyPr wrap="square" lIns="127000" tIns="101600" rIns="57405" bIns="7620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pg_trgm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56834" y="3636665"/>
            <a:ext cx="238942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Fuzziness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32267" y="3636665"/>
            <a:ext cx="238953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nativa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800" y="3972520"/>
            <a:ext cx="10566400" cy="0"/>
          </a:xfrm>
          <a:prstGeom prst="line">
            <a:avLst/>
          </a:prstGeom>
          <a:noFill/>
          <a:ln w="6350">
            <a:solidFill>
              <a:srgbClr val="D5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800" y="4077295"/>
            <a:ext cx="261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vetorial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54400" y="3975695"/>
            <a:ext cx="2573834" cy="434280"/>
          </a:xfrm>
          <a:prstGeom prst="rect">
            <a:avLst/>
          </a:prstGeom>
          <a:solidFill>
            <a:srgbClr val="DCE8F8"/>
          </a:solidFill>
          <a:ln/>
        </p:spPr>
        <p:txBody>
          <a:bodyPr wrap="square" lIns="127000" tIns="101600" rIns="57405" bIns="7620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56834" y="4077295"/>
            <a:ext cx="238942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Versões recentes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32267" y="4077295"/>
            <a:ext cx="238953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extensão madura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2800" y="4413151"/>
            <a:ext cx="10566400" cy="0"/>
          </a:xfrm>
          <a:prstGeom prst="line">
            <a:avLst/>
          </a:prstGeom>
          <a:noFill/>
          <a:ln w="6350">
            <a:solidFill>
              <a:srgbClr val="D5D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800" y="4517926"/>
            <a:ext cx="261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Complexidade de operar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54400" y="4416326"/>
            <a:ext cx="2573834" cy="434280"/>
          </a:xfrm>
          <a:custGeom>
            <a:avLst/>
            <a:gdLst/>
            <a:ahLst/>
            <a:cxnLst/>
            <a:rect l="l" t="t" r="r" b="b"/>
            <a:pathLst>
              <a:path w="2573834" h="434280">
                <a:moveTo>
                  <a:pt x="0" y="0"/>
                </a:moveTo>
                <a:lnTo>
                  <a:pt x="2573834" y="0"/>
                </a:lnTo>
                <a:lnTo>
                  <a:pt x="2573834" y="358080"/>
                </a:lnTo>
                <a:arcTo wR="76200" hR="76200" stAng="0" swAng="5400000"/>
                <a:lnTo>
                  <a:pt x="76200" y="43428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8F8"/>
          </a:solidFill>
          <a:ln/>
        </p:spPr>
        <p:txBody>
          <a:bodyPr wrap="square" lIns="127000" tIns="101600" rIns="57405" bIns="7620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Baixa: um só serviço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56834" y="4517926"/>
            <a:ext cx="238942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Alta: segundo sistema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32267" y="4517926"/>
            <a:ext cx="238953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5601990"/>
            <a:ext cx="113792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</a:t>
            </a: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Elasticsearch seria mais pesado de operar; o MySQL não cobre a </a:t>
            </a:r>
            <a:r>
              <a:rPr lang="en-US" sz="1400" dirty="0" err="1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</a:t>
            </a: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vetorial</a:t>
            </a: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Recuperação de Documentos Perdidos baseado em OCR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CONSIDERAÇÕES FINAIS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i="0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desenho é viável; falta prová-lo com testes e dados reais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2800" y="2704009"/>
            <a:ext cx="3318867" cy="0"/>
          </a:xfrm>
          <a:prstGeom prst="line">
            <a:avLst/>
          </a:prstGeom>
          <a:noFill/>
          <a:ln w="50800">
            <a:solidFill>
              <a:srgbClr val="2F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856409"/>
            <a:ext cx="341843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6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3217069"/>
            <a:ext cx="3418433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ts val="196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plano teórico, o sistema é viável: Tesseract com OpenCV, busca híbrida e PostgreSQL. A proteção de dados é obrigatória.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6467" y="2704009"/>
            <a:ext cx="3318966" cy="0"/>
          </a:xfrm>
          <a:prstGeom prst="line">
            <a:avLst/>
          </a:prstGeom>
          <a:noFill/>
          <a:ln w="508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6467" y="2856409"/>
            <a:ext cx="34185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Limitações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36467" y="3217069"/>
            <a:ext cx="3418535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da qualidade da imagem. Ainda sem dados reais. Precisa de articulação com esquadras e serviços de identificação.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0234" y="2704009"/>
            <a:ext cx="3318966" cy="0"/>
          </a:xfrm>
          <a:prstGeom prst="line">
            <a:avLst/>
          </a:prstGeom>
          <a:noFill/>
          <a:ln w="508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0234" y="2856409"/>
            <a:ext cx="34185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Próximos passos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60234" y="3217069"/>
            <a:ext cx="341853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 funcional, técnicas híbridas mais avançadas e um projeto-piloto.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5397500"/>
            <a:ext cx="1252934" cy="444500"/>
          </a:xfrm>
          <a:prstGeom prst="roundRect">
            <a:avLst>
              <a:gd name="adj" fmla="val 50000"/>
            </a:avLst>
          </a:prstGeom>
          <a:solidFill>
            <a:srgbClr val="2F6F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</a:t>
            </a:r>
            <a:endParaRPr lang="en-US" sz="1500" dirty="0"/>
          </a:p>
        </p:txBody>
      </p:sp>
      <p:pic>
        <p:nvPicPr>
          <p:cNvPr id="14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67334" y="5492750"/>
            <a:ext cx="254000" cy="254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522934" y="5397500"/>
            <a:ext cx="2552303" cy="4445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com dados reais</a:t>
            </a:r>
            <a:endParaRPr lang="en-US" sz="1500" dirty="0"/>
          </a:p>
        </p:txBody>
      </p:sp>
      <p:pic>
        <p:nvPicPr>
          <p:cNvPr id="16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76838" y="5492750"/>
            <a:ext cx="254000" cy="254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438" y="5397500"/>
            <a:ext cx="1644551" cy="4445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Projeto-piloto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Recuperação de Documentos Perdidos baseado em OCR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1683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7168388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42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fontes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1579761"/>
            <a:ext cx="716838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Assembleia Nacional. (2011). </a:t>
            </a:r>
            <a:r>
              <a:rPr lang="en-US" sz="12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 n.º 22/11, de 17 de Junho: Lei da Protecção de Dados Pessoais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República de Angola.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039342"/>
            <a:ext cx="716838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Baeza-Yates, R., &amp; Ribeiro-Neto, B. (2011). </a:t>
            </a:r>
            <a:r>
              <a:rPr lang="en-US" sz="12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information retrieval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(2.ª ed.). Addison-Wesley.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00883"/>
            <a:ext cx="716838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Bradski, G. (2000). The OpenCV library. </a:t>
            </a:r>
            <a:r>
              <a:rPr lang="en-US" sz="12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Dobb’s Journal of Software Tools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(11), 120–125.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562423"/>
            <a:ext cx="716838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Cormack, G. V., Clarke, C. L. A., &amp; Büttcher, S. (2009). Reciprocal rank fusion outperforms Condorcet and individual rank learning methods. </a:t>
            </a:r>
            <a:r>
              <a:rPr lang="en-US" sz="12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SIGIR ’09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758–759.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022005"/>
            <a:ext cx="716838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Gormley, C., &amp; Tong, Z. (2015). </a:t>
            </a:r>
            <a:r>
              <a:rPr lang="en-US" sz="12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Elasticsearch: The definitive guide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O’Reilly Media.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283545"/>
            <a:ext cx="716838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Kane, A. (s.d.). </a:t>
            </a:r>
            <a:r>
              <a:rPr lang="en-US" sz="12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[Software]. https://github.com/pgvector/pgvector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545086"/>
            <a:ext cx="716838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Merkel, D. (2014). Docker: Lightweight Linux containers. </a:t>
            </a:r>
            <a:r>
              <a:rPr lang="en-US" sz="12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Journal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(239).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806627"/>
            <a:ext cx="716838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Global Development Group. (2024). </a:t>
            </a:r>
            <a:r>
              <a:rPr lang="en-US" sz="12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documentation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https://www.postgresql.org/docs/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77200" y="812800"/>
            <a:ext cx="3302000" cy="5029200"/>
          </a:xfrm>
          <a:prstGeom prst="roundRect">
            <a:avLst>
              <a:gd name="adj" fmla="val 3077"/>
            </a:avLst>
          </a:prstGeom>
          <a:solidFill>
            <a:srgbClr val="14284B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2000" y="2500709"/>
            <a:ext cx="609600" cy="50800"/>
          </a:xfrm>
          <a:prstGeom prst="rect">
            <a:avLst/>
          </a:prstGeom>
          <a:solidFill>
            <a:srgbClr val="4F8FDF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2703909"/>
            <a:ext cx="277317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4F6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82000" y="3275409"/>
            <a:ext cx="277317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3529806"/>
            <a:ext cx="277317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CC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Casimiro Luzolo Gaspar Puaia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CC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ITCL · Turma DTI · 13.ª Classe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Recuperação de Documentos Perdidos baseado em OCR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a de Recuperação de Documentos Perdidos baseado em OCR">
  <a:themeElements>
    <a:clrScheme name="Sistema de Recuperação de Documentos Perdidos baseado em OCR">
      <a:dk1>
        <a:srgbClr val="14284B"/>
      </a:dk1>
      <a:lt1>
        <a:srgbClr val="F4F6F9"/>
      </a:lt1>
      <a:dk2>
        <a:srgbClr val="4C5C77"/>
      </a:dk2>
      <a:lt2>
        <a:srgbClr val="DEE1E8"/>
      </a:lt2>
      <a:accent1>
        <a:srgbClr val="2F6FBF"/>
      </a:accent1>
      <a:accent2>
        <a:srgbClr val="9CC0EE"/>
      </a:accent2>
      <a:accent3>
        <a:srgbClr val="1E3A66"/>
      </a:accent3>
      <a:accent4>
        <a:srgbClr val="4F8FDF"/>
      </a:accent4>
      <a:accent5>
        <a:srgbClr val="8FA6C4"/>
      </a:accent5>
      <a:accent6>
        <a:srgbClr val="475569"/>
      </a:accent6>
      <a:hlink>
        <a:srgbClr val="0563C1"/>
      </a:hlink>
      <a:folHlink>
        <a:srgbClr val="954F72"/>
      </a:folHlink>
    </a:clrScheme>
    <a:fontScheme name="Sistema de Recuperação de Documentos Perdidos baseado em OCR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2034</Words>
  <Application>Microsoft Office PowerPoint</Application>
  <PresentationFormat>Widescreen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Montserrat</vt:lpstr>
      <vt:lpstr>Sistema de Recuperação de Documentos Perdidos baseado em OCR</vt:lpstr>
      <vt:lpstr>Sistema de Recuperação de Documentos Perdidos baseado em OCR</vt:lpstr>
      <vt:lpstr>Quem perde um documento não sabe onde procurar; quem o acha não sabe a quem entregar</vt:lpstr>
      <vt:lpstr>Em que medida um sistema web que combina OCR com busca lexical e semântica melhora a recuperação de documentos perdidos em Angola?</vt:lpstr>
      <vt:lpstr>Três passos levam ao sistema: entender, escolher e construir</vt:lpstr>
      <vt:lpstr>A qualidade da imagem decide se o OCR acerta</vt:lpstr>
      <vt:lpstr>Nenhuma busca resolve tudo sozinha; juntas, equilibram precisão e recall</vt:lpstr>
      <vt:lpstr>Mostrar o mínimo protege o dono do documento</vt:lpstr>
      <vt:lpstr>Comparámos cinco camadas com quatro critérios práticos</vt:lpstr>
      <vt:lpstr>As escolhas formam uma única pilha de código aberto</vt:lpstr>
      <vt:lpstr>Num só serviço, o PostgreSQL cobre as buscas que o sistema precisa</vt:lpstr>
      <vt:lpstr>O desenho é viável; falta prová-lo com testes e dados reais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Recuperação de Documentos Perdidos baseado em OCR</dc:title>
  <dc:subject/>
  <dc:creator/>
  <cp:lastModifiedBy>Casimiro Gaspar</cp:lastModifiedBy>
  <cp:revision>4</cp:revision>
  <dcterms:created xsi:type="dcterms:W3CDTF">2026-10-20T04:51:25Z</dcterms:created>
  <dcterms:modified xsi:type="dcterms:W3CDTF">2026-10-20T05:30:55Z</dcterms:modified>
</cp:coreProperties>
</file>